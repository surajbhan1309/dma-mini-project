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1B21296-F6CB-4BF8-91AF-BE994FF2283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Untitled Section" id="{8B760C75-2A57-4AFD-A447-0E2559B83814}">
          <p14:sldIdLst>
            <p14:sldId id="268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808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998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52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78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391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005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13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821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75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890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353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6443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77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341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643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1484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455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577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889" r:id="rId13"/>
    <p:sldLayoutId id="2147483890" r:id="rId14"/>
    <p:sldLayoutId id="2147483891" r:id="rId15"/>
    <p:sldLayoutId id="2147483892" r:id="rId16"/>
    <p:sldLayoutId id="214748389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3600" b="1">
                <a:solidFill>
                  <a:srgbClr val="1E1E1E"/>
                </a:solidFill>
              </a:defRPr>
            </a:pPr>
            <a:r>
              <a:t>Peer Relationships and Academic Advisor Support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2200" b="0">
                <a:solidFill>
                  <a:srgbClr val="1E1E1E"/>
                </a:solidFill>
              </a:defRPr>
            </a:pPr>
            <a:r>
              <a:rPr dirty="0"/>
              <a:t>Mini Project | Data Mining &amp; Analytics (DMA Lab)</a:t>
            </a:r>
            <a:br>
              <a:rPr dirty="0"/>
            </a:br>
            <a:r>
              <a:rPr dirty="0"/>
              <a:t>By Suraj Bhan Majhi</a:t>
            </a:r>
            <a:endParaRPr lang="en-US" dirty="0"/>
          </a:p>
          <a:p>
            <a:pPr algn="l">
              <a:defRPr sz="2200" b="0">
                <a:solidFill>
                  <a:srgbClr val="1E1E1E"/>
                </a:solidFill>
              </a:defRPr>
            </a:pPr>
            <a:r>
              <a:rPr lang="en-IN" dirty="0"/>
              <a:t>Roll No:23103143</a:t>
            </a:r>
          </a:p>
          <a:p>
            <a:pPr algn="l">
              <a:defRPr sz="2200" b="0">
                <a:solidFill>
                  <a:srgbClr val="1E1E1E"/>
                </a:solidFill>
              </a:defRPr>
            </a:pPr>
            <a:r>
              <a:rPr lang="en-IN" dirty="0" err="1"/>
              <a:t>Github</a:t>
            </a:r>
            <a:r>
              <a:rPr lang="en-IN" dirty="0"/>
              <a:t> </a:t>
            </a:r>
            <a:r>
              <a:rPr lang="en-IN" dirty="0" err="1"/>
              <a:t>Link:https</a:t>
            </a:r>
            <a:r>
              <a:rPr lang="en-IN" dirty="0"/>
              <a:t>://github.com/surajbhan1309/DMA-mini-</a:t>
            </a:r>
            <a:r>
              <a:rPr lang="en-IN" dirty="0" err="1"/>
              <a:t>project.git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3200" b="1">
                <a:solidFill>
                  <a:srgbClr val="1E1E1E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000" b="0">
                <a:solidFill>
                  <a:srgbClr val="1E1E1E"/>
                </a:solidFill>
              </a:defRPr>
            </a:pPr>
            <a:r>
              <a:t>🎯 Objective: Analyze how peer and advisor relationships influence student satisfaction.</a:t>
            </a:r>
            <a:br/>
            <a:br/>
            <a:r>
              <a:t>📚 Background: Student success depends on both academic effort and social support.</a:t>
            </a:r>
            <a:br/>
            <a:r>
              <a:t>This study explores key interpersonal factors shaping student experiences.</a:t>
            </a:r>
            <a:br/>
            <a:br/>
            <a:r>
              <a:t>🧠 Tools Used: R (tidyverse, ggplot2)</a:t>
            </a:r>
            <a:br/>
            <a:r>
              <a:t>📊 Dataset: 'Peer Relationships and Availability of Advisors - Student Survey.csv'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3000" b="1">
                <a:solidFill>
                  <a:srgbClr val="1E1E1E"/>
                </a:solidFill>
              </a:defRPr>
            </a:pPr>
            <a:r>
              <a:t>Overall Relationship with Peers</a:t>
            </a:r>
          </a:p>
        </p:txBody>
      </p:sp>
      <p:pic>
        <p:nvPicPr>
          <p:cNvPr id="3" name="Picture 2" descr="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800" b="0">
                <a:solidFill>
                  <a:srgbClr val="1E1E1E"/>
                </a:solidFill>
              </a:defRPr>
            </a:pPr>
            <a:r>
              <a:t>✅ Most students describe their peers as 'Supportive' or 'Neutral'.</a:t>
            </a:r>
            <a:br/>
            <a:r>
              <a:t>⚠️ Few face unsupportive environments.</a:t>
            </a:r>
            <a:br/>
            <a:r>
              <a:t>💡 Insight: Peer mentoring programs could help the minority facing challenges.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3000" b="1">
                <a:solidFill>
                  <a:srgbClr val="1E1E1E"/>
                </a:solidFill>
              </a:defRPr>
            </a:pPr>
            <a:r>
              <a:t>Overall Satisfaction with Academic Support</a:t>
            </a:r>
          </a:p>
        </p:txBody>
      </p:sp>
      <p:pic>
        <p:nvPicPr>
          <p:cNvPr id="3" name="Picture 2" descr="Rplot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800" b="0">
                <a:solidFill>
                  <a:srgbClr val="1E1E1E"/>
                </a:solidFill>
              </a:defRPr>
            </a:pPr>
            <a:r>
              <a:t>✅ Majority score between 6–8 on satisfaction.</a:t>
            </a:r>
            <a:br/>
            <a:r>
              <a:t>💡 Insight: Students are mostly satisfied, but low scorers need additional mentoring.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3000" b="1">
                <a:solidFill>
                  <a:srgbClr val="1E1E1E"/>
                </a:solidFill>
              </a:defRPr>
            </a:pPr>
            <a:r>
              <a:t>Satisfaction Score by Advisor Accessibility</a:t>
            </a:r>
          </a:p>
        </p:txBody>
      </p:sp>
      <p:pic>
        <p:nvPicPr>
          <p:cNvPr id="3" name="Picture 2" descr="Rplot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800" b="0">
                <a:solidFill>
                  <a:srgbClr val="1E1E1E"/>
                </a:solidFill>
              </a:defRPr>
            </a:pPr>
            <a:r>
              <a:t>📈 Clear positive trend: higher accessibility → higher satisfaction.</a:t>
            </a:r>
            <a:br/>
            <a:r>
              <a:t>💡 Insight: Advisor availability is crucial for academic confidence.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3000" b="1">
                <a:solidFill>
                  <a:srgbClr val="1E1E1E"/>
                </a:solidFill>
              </a:defRPr>
            </a:pPr>
            <a:r>
              <a:t>Common Challenges in Peer Relationships</a:t>
            </a:r>
          </a:p>
        </p:txBody>
      </p:sp>
      <p:pic>
        <p:nvPicPr>
          <p:cNvPr id="3" name="Picture 2" descr="Rplot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800" b="0">
                <a:solidFill>
                  <a:srgbClr val="1E1E1E"/>
                </a:solidFill>
              </a:defRPr>
            </a:pPr>
            <a:r>
              <a:t>⚠️ Top issues: Competitiveness and lack of communication.</a:t>
            </a:r>
            <a:br/>
            <a:r>
              <a:t>💡 Insight: Group activities can reduce these barriers.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3000" b="1">
                <a:solidFill>
                  <a:srgbClr val="1E1E1E"/>
                </a:solidFill>
              </a:defRPr>
            </a:pPr>
            <a:r>
              <a:t>Gender Distribution of Respondents</a:t>
            </a:r>
          </a:p>
        </p:txBody>
      </p:sp>
      <p:pic>
        <p:nvPicPr>
          <p:cNvPr id="3" name="Picture 2" descr="Rplot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pPr algn="l">
              <a:defRPr sz="1800" b="0">
                <a:solidFill>
                  <a:srgbClr val="1E1E1E"/>
                </a:solidFill>
              </a:defRPr>
            </a:pPr>
            <a:r>
              <a:rPr dirty="0"/>
              <a:t>👥 Males ≈ 70%, Females ≈ 30%.</a:t>
            </a:r>
            <a:br>
              <a:rPr dirty="0"/>
            </a:br>
            <a:r>
              <a:rPr dirty="0"/>
              <a:t>💡 Insight: Slight male dominance but fairly representative </a:t>
            </a:r>
            <a:r>
              <a:rPr dirty="0" err="1"/>
              <a:t>sa</a:t>
            </a:r>
            <a:r>
              <a:rPr lang="en-IN" dirty="0"/>
              <a:t>m</a:t>
            </a:r>
            <a:r>
              <a:rPr dirty="0" err="1"/>
              <a:t>ple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3000" b="1">
                <a:solidFill>
                  <a:srgbClr val="1E1E1E"/>
                </a:solidFill>
              </a:defRPr>
            </a:pPr>
            <a:r>
              <a:t>Advisor Contact Methods</a:t>
            </a:r>
          </a:p>
        </p:txBody>
      </p:sp>
      <p:pic>
        <p:nvPicPr>
          <p:cNvPr id="3" name="Picture 2" descr="Rplot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50545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1800" b="0">
                <a:solidFill>
                  <a:srgbClr val="1E1E1E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3000" b="1">
                <a:solidFill>
                  <a:srgbClr val="1E1E1E"/>
                </a:solidFill>
              </a:defRPr>
            </a:pPr>
            <a:r>
              <a:t>Biggest Difficulty Approaching Advisors</a:t>
            </a:r>
          </a:p>
        </p:txBody>
      </p:sp>
      <p:pic>
        <p:nvPicPr>
          <p:cNvPr id="3" name="Picture 2" descr="Rplot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💬 Preferred: Messaging apps and in-person meetings.</a:t>
            </a:r>
            <a:br>
              <a:rPr lang="en-US" dirty="0"/>
            </a:br>
            <a:r>
              <a:rPr lang="en-US" dirty="0"/>
              <a:t>💡 Insight: Students favor quick and direct communication channels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C2787-204C-4B8F-82EF-4B957F2D0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2" y="618519"/>
            <a:ext cx="7773338" cy="1172182"/>
          </a:xfrm>
        </p:spPr>
        <p:txBody>
          <a:bodyPr/>
          <a:lstStyle/>
          <a:p>
            <a:r>
              <a:rPr lang="en-US" dirty="0">
                <a:latin typeface="+mn-lt"/>
              </a:rPr>
              <a:t>Difficulty in Approaching</a:t>
            </a:r>
            <a:endParaRPr lang="en-IN" dirty="0">
              <a:latin typeface="+mn-l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AFFD43-7676-4836-881C-4AA5AFAB2F80}"/>
              </a:ext>
            </a:extLst>
          </p:cNvPr>
          <p:cNvPicPr>
            <a:picLocks noGrp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059850" y="1790701"/>
            <a:ext cx="7024299" cy="34242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3470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3000" b="1">
                <a:solidFill>
                  <a:srgbClr val="1E1E1E"/>
                </a:solidFill>
              </a:defRPr>
            </a:pPr>
            <a:r>
              <a:t>Satisfaction Score by Gender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 b="0">
                <a:solidFill>
                  <a:srgbClr val="1E1E1E"/>
                </a:solidFill>
              </a:defRPr>
            </a:pPr>
            <a:r>
              <a:rPr lang="en-US" b="1" dirty="0">
                <a:ea typeface="MS Mincho" panose="02020609040205080304" pitchFamily="49" charset="-128"/>
              </a:rPr>
              <a:t>F</a:t>
            </a:r>
            <a:r>
              <a:rPr lang="en-US" sz="1800" b="1" dirty="0">
                <a:effectLst/>
                <a:ea typeface="MS Mincho" panose="02020609040205080304" pitchFamily="49" charset="-128"/>
              </a:rPr>
              <a:t>emale students report slightly higher satisfaction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or that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there’s no major gender difference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.</a:t>
            </a:r>
            <a:r>
              <a:rPr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FDE0F8-43BD-47D5-AEEB-7B56A12FBC2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1447800"/>
            <a:ext cx="7096125" cy="3886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3200" b="1">
                <a:solidFill>
                  <a:srgbClr val="1E1E1E"/>
                </a:solidFill>
              </a:defRPr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000" b="0">
                <a:solidFill>
                  <a:srgbClr val="1E1E1E"/>
                </a:solidFill>
              </a:defRPr>
            </a:pPr>
            <a:r>
              <a:t>🔹 Peer relationships are mostly positive.</a:t>
            </a:r>
            <a:br/>
            <a:r>
              <a:t>🔹 Advisor accessibility strongly influences satisfaction.</a:t>
            </a:r>
            <a:br/>
            <a:r>
              <a:t>🔹 Messaging and in-person communication are most effective.</a:t>
            </a:r>
            <a:br/>
            <a:r>
              <a:t>🔹 Gender has little impact on support or satisfaction.</a:t>
            </a:r>
            <a:br/>
            <a:r>
              <a:t>🔹 Addressing peer competition and advisor clarity can further improve student experience.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3200" b="1">
                <a:solidFill>
                  <a:srgbClr val="1E1E1E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000" b="0">
                <a:solidFill>
                  <a:srgbClr val="1E1E1E"/>
                </a:solidFill>
              </a:defRPr>
            </a:pPr>
            <a:r>
              <a:t>✅ Supportive peers and accessible advisors enhance student satisfaction.</a:t>
            </a:r>
            <a:br/>
            <a:r>
              <a:t>✅ Institutions should encourage open communication and mentorship programs.</a:t>
            </a:r>
            <a:br/>
            <a:r>
              <a:t>✅ Transparent advisor systems improve academic engagement.</a:t>
            </a:r>
            <a:br/>
            <a:br/>
            <a:r>
              <a:t>🌟 Overall, collaboration and mentorship build a healthy academic environment.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49</TotalTime>
  <Words>403</Words>
  <Application>Microsoft Office PowerPoint</Application>
  <PresentationFormat>On-screen Show (4:3)</PresentationFormat>
  <Paragraphs>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Times New Roman</vt:lpstr>
      <vt:lpstr>Tw Cen MT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Difficulty in Approaching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suraj bhan</cp:lastModifiedBy>
  <cp:revision>10</cp:revision>
  <dcterms:created xsi:type="dcterms:W3CDTF">2013-01-27T09:14:16Z</dcterms:created>
  <dcterms:modified xsi:type="dcterms:W3CDTF">2025-11-11T11:54:33Z</dcterms:modified>
  <cp:category/>
</cp:coreProperties>
</file>